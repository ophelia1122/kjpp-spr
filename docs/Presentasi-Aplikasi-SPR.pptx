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0" y="0"/>
            <a:ext cx="109728" cy="68580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pr-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4754880" cy="11182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2514600"/>
            <a:ext cx="914400" cy="508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68580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51B2E"/>
                </a:solidFill>
                <a:latin typeface="Segoe UI"/>
              </a:rPr>
              <a:t>Aplikasi Internal SPR</a:t>
            </a:r>
          </a:p>
          <a:p>
            <a:pPr algn="l">
              <a:lnSpc>
                <a:spcPct val="100000"/>
              </a:lnSpc>
            </a:pPr>
            <a:r>
              <a:rPr sz="4000" b="1">
                <a:solidFill>
                  <a:srgbClr val="151B2E"/>
                </a:solidFill>
                <a:latin typeface="Segoe UI"/>
              </a:rPr>
              <a:t>Panduan Penggunaan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6858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86179"/>
                </a:solidFill>
                <a:latin typeface="Segoe UI"/>
              </a:rPr>
              <a:t>Satu tempat untuk proposal, penugasan lapangan, review, penagihan, sampai laporan resmi.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KJPP Sugianto Prasodjo &amp; Rekan · Workshop Kebagusan ·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194560"/>
            <a:ext cx="329184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D3F0"/>
                </a:solidFill>
                <a:latin typeface="Segoe UI"/>
              </a:rPr>
              <a:t>Pelatihan</a:t>
            </a:r>
          </a:p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Pengguna</a:t>
            </a:r>
          </a:p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Aplikasi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HARI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303520" cy="86868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8229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B3262E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2024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Mengenal aplikasi &amp; hak akses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303520" cy="86868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8229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B3262E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92024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Perjalanan satu proyek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71800"/>
            <a:ext cx="5303520" cy="86868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71800"/>
            <a:ext cx="8229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B3262E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97180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Proposal &amp; detail proyek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5303520" cy="86868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71800"/>
            <a:ext cx="8229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B3262E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Surat Tugas, invoice &amp; kwitansi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23360"/>
            <a:ext cx="5303520" cy="86868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23360"/>
            <a:ext cx="8229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B3262E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02336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Dashboard &amp; timeline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023360"/>
            <a:ext cx="5303520" cy="86868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60"/>
            <a:ext cx="8229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B3262E"/>
                </a:solidFill>
                <a:latin typeface="Segoe U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02336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Notifikasi WhatsApp &amp; akses dari luar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074920"/>
            <a:ext cx="5303520" cy="86868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8229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B3262E"/>
                </a:solidFill>
                <a:latin typeface="Segoe U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074920"/>
            <a:ext cx="42062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Tips &amp; tanya jawab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MENGENAL APLIKASI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Kenapa aplikasi SPR?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606040" cy="292608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2606040" cy="50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E3A8A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21488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Satu sumber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08960"/>
            <a:ext cx="21488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Proposal, klien, objek, petugas, invoice, dan laporan tercatat di satu tempat.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103120"/>
            <a:ext cx="2606040" cy="292608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2103120"/>
            <a:ext cx="2606040" cy="50800"/>
          </a:xfrm>
          <a:prstGeom prst="rect">
            <a:avLst/>
          </a:prstGeom>
          <a:solidFill>
            <a:srgbClr val="1C7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33172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7C54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51760"/>
            <a:ext cx="21488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Status otomatis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08960"/>
            <a:ext cx="21488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Status proyek berpindah sendiri mengikuti tindakan — tidak perlu update manual.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03120"/>
            <a:ext cx="2606040" cy="292608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103120"/>
            <a:ext cx="2606040" cy="5080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3172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9A5B00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651760"/>
            <a:ext cx="21488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SLA terpantau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08960"/>
            <a:ext cx="21488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Deadline draf &amp; final dihitung dalam hari kerja, lengkap dengan peringatan.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39" y="2103120"/>
            <a:ext cx="2606040" cy="292608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39" y="2103120"/>
            <a:ext cx="2606040" cy="508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39" y="233172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39" y="2651760"/>
            <a:ext cx="2148840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Dokumen sekali klik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39" y="3493008"/>
            <a:ext cx="21488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Proposal, invoice, kwitansi, Surat Tugas dalam PDF &amp; Word.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HAK AKSES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Role &amp; Jabatan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86179"/>
                </a:solidFill>
                <a:latin typeface="Segoe UI"/>
              </a:rPr>
              <a:t>Setiap akun punya dua atribut: Role menentukan menu yang dibuka, Jabatan menentukan tugas &amp; tanda tangan.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3520440" cy="17373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3520440" cy="50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3063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Semua menu, pengguna, izin, rekening bank, Bot WhatsApp, log aktivitas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377440"/>
            <a:ext cx="3520440" cy="17373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377440"/>
            <a:ext cx="3520440" cy="50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60604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Admin Produksi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63240"/>
            <a:ext cx="3063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Buat &amp; cetak proposal, database klien, konfirmasi hasil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2377440"/>
            <a:ext cx="3520440" cy="17373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2377440"/>
            <a:ext cx="3520440" cy="50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260604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General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063240"/>
            <a:ext cx="3063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Invoice, pembayaran, penomoran, Surat Tugas, faktur pajak, export Excel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97680"/>
            <a:ext cx="3520440" cy="17373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97680"/>
            <a:ext cx="3520440" cy="508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2628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Surveyor / Penilai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83480"/>
            <a:ext cx="3063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Proyek Saya, tanggal survei, Submit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297680"/>
            <a:ext cx="3520440" cy="17373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297680"/>
            <a:ext cx="3520440" cy="508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52628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Reviewer (jabatan)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983480"/>
            <a:ext cx="3063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Antrean review: Sudah Direview atau Kembalikan ke Surveyor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19" y="4297680"/>
            <a:ext cx="3520440" cy="17373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19" y="4297680"/>
            <a:ext cx="3520440" cy="508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19" y="4526280"/>
            <a:ext cx="3063240" cy="7680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Penanggung Jawab (jabatan)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5367528"/>
            <a:ext cx="3063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Penandatangan proposal, invoice, dan kwitansi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ALUR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Perjalanan satu proyek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5</a:t>
            </a:r>
          </a:p>
        </p:txBody>
      </p:sp>
      <p:sp>
        <p:nvSpPr>
          <p:cNvPr id="9" name="Pentagon 8"/>
          <p:cNvSpPr/>
          <p:nvPr/>
        </p:nvSpPr>
        <p:spPr>
          <a:xfrm>
            <a:off x="640080" y="2286000"/>
            <a:ext cx="1828800" cy="1005840"/>
          </a:xfrm>
          <a:prstGeom prst="homePlate">
            <a:avLst/>
          </a:prstGeom>
          <a:solidFill>
            <a:srgbClr val="586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137160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Proposal disimpan</a:t>
            </a:r>
          </a:p>
        </p:txBody>
      </p:sp>
      <p:sp>
        <p:nvSpPr>
          <p:cNvPr id="12" name="Chevron 11"/>
          <p:cNvSpPr/>
          <p:nvPr/>
        </p:nvSpPr>
        <p:spPr>
          <a:xfrm>
            <a:off x="2487168" y="2286000"/>
            <a:ext cx="1828800" cy="1005840"/>
          </a:xfrm>
          <a:prstGeom prst="chevron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8" y="2286000"/>
            <a:ext cx="137160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Menunggu Klien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342900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Proposal dikirim</a:t>
            </a:r>
          </a:p>
        </p:txBody>
      </p:sp>
      <p:sp>
        <p:nvSpPr>
          <p:cNvPr id="15" name="Chevron 14"/>
          <p:cNvSpPr/>
          <p:nvPr/>
        </p:nvSpPr>
        <p:spPr>
          <a:xfrm>
            <a:off x="4334256" y="2286000"/>
            <a:ext cx="1828800" cy="1005840"/>
          </a:xfrm>
          <a:prstGeom prst="chevron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2286000"/>
            <a:ext cx="137160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Invoice 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342900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Invoice pertama terbit</a:t>
            </a:r>
          </a:p>
        </p:txBody>
      </p:sp>
      <p:sp>
        <p:nvSpPr>
          <p:cNvPr id="18" name="Chevron 17"/>
          <p:cNvSpPr/>
          <p:nvPr/>
        </p:nvSpPr>
        <p:spPr>
          <a:xfrm>
            <a:off x="6181344" y="2286000"/>
            <a:ext cx="1828800" cy="1005840"/>
          </a:xfrm>
          <a:prstGeom prst="chevron">
            <a:avLst/>
          </a:prstGeom>
          <a:solidFill>
            <a:srgbClr val="1C7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286000"/>
            <a:ext cx="137160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In-Progress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342900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DP dibayar / Mulai Tanpa DP</a:t>
            </a:r>
          </a:p>
        </p:txBody>
      </p:sp>
      <p:sp>
        <p:nvSpPr>
          <p:cNvPr id="21" name="Chevron 20"/>
          <p:cNvSpPr/>
          <p:nvPr/>
        </p:nvSpPr>
        <p:spPr>
          <a:xfrm>
            <a:off x="8028432" y="2286000"/>
            <a:ext cx="1828800" cy="1005840"/>
          </a:xfrm>
          <a:prstGeom prst="chevron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2286000"/>
            <a:ext cx="137160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Pelunasan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2" y="342900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Draf Selesai</a:t>
            </a:r>
          </a:p>
        </p:txBody>
      </p:sp>
      <p:sp>
        <p:nvSpPr>
          <p:cNvPr id="24" name="Chevron 23"/>
          <p:cNvSpPr/>
          <p:nvPr/>
        </p:nvSpPr>
        <p:spPr>
          <a:xfrm>
            <a:off x="9875520" y="2286000"/>
            <a:ext cx="1828800" cy="1005840"/>
          </a:xfrm>
          <a:prstGeom prst="chevron">
            <a:avLst/>
          </a:prstGeom>
          <a:solidFill>
            <a:srgbClr val="1C7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286000"/>
            <a:ext cx="137160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Selesai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42900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Seluruh tagihan lunas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80560"/>
            <a:ext cx="10881360" cy="1371600"/>
          </a:xfrm>
          <a:prstGeom prst="rect">
            <a:avLst/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72000"/>
            <a:ext cx="10332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B3262E"/>
                </a:solidFill>
                <a:latin typeface="Segoe UI"/>
              </a:rPr>
              <a:t>Batal  </a:t>
            </a:r>
            <a:r>
              <a:rPr sz="1700" b="0">
                <a:solidFill>
                  <a:srgbClr val="151B2E"/>
                </a:solidFill>
                <a:latin typeface="Segoe UI"/>
              </a:rPr>
              <a:t>bisa dipilih kapan saja. Data tidak dihapus dan proyek dapat diaktifkan kembali.</a:t>
            </a:r>
          </a:p>
          <a:p>
            <a:pPr algn="l">
              <a:lnSpc>
                <a:spcPct val="110000"/>
              </a:lnSpc>
            </a:pPr>
            <a:r>
              <a:rPr sz="1700" b="1">
                <a:solidFill>
                  <a:srgbClr val="151B2E"/>
                </a:solidFill>
                <a:latin typeface="Segoe UI"/>
              </a:rPr>
              <a:t>Status berpindah otomatis </a:t>
            </a:r>
            <a:r>
              <a:rPr sz="1700" b="0">
                <a:solidFill>
                  <a:srgbClr val="151B2E"/>
                </a:solidFill>
                <a:latin typeface="Segoe UI"/>
              </a:rPr>
              <a:t>— cukup lakukan tindakannya (terbitkan invoice, tandai dibayar, dll.).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DI DALAM IN-PROGRESS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Alur review hasil pekerjaan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3474720" cy="35661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86179"/>
                </a:solidFill>
                <a:latin typeface="Segoe UI"/>
              </a:rPr>
              <a:t>TAHAP 1 · SURVEYOR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51B2E"/>
                </a:solidFill>
                <a:latin typeface="Segoe UI"/>
              </a:rPr>
              <a:t>Submit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30175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86179"/>
                </a:solidFill>
                <a:latin typeface="Segoe UI"/>
              </a:rPr>
              <a:t>Tersedia setelah tanggal survei diisi.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586179"/>
                </a:solidFill>
                <a:latin typeface="Segoe UI"/>
              </a:rPr>
              <a:t>📲 Reviewer di-mention di grup WhatsApp.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42232" y="3611880"/>
            <a:ext cx="219456" cy="365760"/>
          </a:xfrm>
          <a:prstGeom prst="rightArrow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011680"/>
            <a:ext cx="3474720" cy="35661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63440" y="2286000"/>
            <a:ext cx="731520" cy="7315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0040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86179"/>
                </a:solidFill>
                <a:latin typeface="Segoe UI"/>
              </a:rPr>
              <a:t>TAHAP 2 · REVIEWER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56616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51B2E"/>
                </a:solidFill>
                <a:latin typeface="Segoe UI"/>
              </a:rPr>
              <a:t>Sudah Direview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206240"/>
            <a:ext cx="30175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86179"/>
                </a:solidFill>
                <a:latin typeface="Segoe UI"/>
              </a:rPr>
              <a:t>Atau Kembalikan ke Surveyor dengan alasan wajib.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586179"/>
                </a:solidFill>
                <a:latin typeface="Segoe UI"/>
              </a:rPr>
              <a:t>📲 Surveyor di-mention di grup WhatsApp.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91272" y="3611880"/>
            <a:ext cx="219456" cy="365760"/>
          </a:xfrm>
          <a:prstGeom prst="rightArrow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59" y="2011680"/>
            <a:ext cx="3474720" cy="35661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79" y="2286000"/>
            <a:ext cx="731520" cy="73152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9" y="228600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9" y="320040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86179"/>
                </a:solidFill>
                <a:latin typeface="Segoe UI"/>
              </a:rPr>
              <a:t>TAHAP 3 · ADMIN PRODUKSI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9" y="356616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51B2E"/>
                </a:solidFill>
                <a:latin typeface="Segoe UI"/>
              </a:rPr>
              <a:t>Konfirmasi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9" y="4206240"/>
            <a:ext cx="30175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86179"/>
                </a:solidFill>
                <a:latin typeface="Segoe UI"/>
              </a:rPr>
              <a:t>SLA Laporan Final mulai dihitung.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586179"/>
                </a:solidFill>
                <a:latin typeface="Segoe UI"/>
              </a:rPr>
              <a:t>Atau kembalikan ke Reviewer dengan alasan.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HALAMAN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Beranda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949440" cy="44805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949440" cy="4480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586179"/>
                </a:solidFill>
                <a:latin typeface="Segoe UI"/>
              </a:rPr>
              <a:t>Tempel screenshot di sini</a:t>
            </a:r>
          </a:p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586179"/>
                </a:solidFill>
                <a:latin typeface="Segoe UI"/>
              </a:rPr>
              <a:t>Beranda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Kartu angka  </a:t>
            </a:r>
            <a:r>
              <a:rPr sz="1500">
                <a:solidFill>
                  <a:srgbClr val="586179"/>
                </a:solidFill>
                <a:latin typeface="Segoe UI"/>
              </a:rPr>
              <a:t>bisa diklik untuk membuka daftar tersaring.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Menunggu Review  </a:t>
            </a:r>
            <a:r>
              <a:rPr sz="1500">
                <a:solidFill>
                  <a:srgbClr val="586179"/>
                </a:solidFill>
                <a:latin typeface="Segoe UI"/>
              </a:rPr>
              <a:t>antrean untuk Reviewer.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Butuh Perhatian  </a:t>
            </a:r>
            <a:r>
              <a:rPr sz="1500">
                <a:solidFill>
                  <a:srgbClr val="586179"/>
                </a:solidFill>
                <a:latin typeface="Segoe UI"/>
              </a:rPr>
              <a:t>lewat deadline, ≤2 hari kerja, tagihan belum lunas.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Cakupan  </a:t>
            </a:r>
            <a:r>
              <a:rPr sz="1500">
                <a:solidFill>
                  <a:srgbClr val="586179"/>
                </a:solidFill>
                <a:latin typeface="Segoe UI"/>
              </a:rPr>
              <a:t>admin melihat seluruh kantor; petugas melihat tugasnya.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HALAMAN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List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949440" cy="44805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949440" cy="4480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586179"/>
                </a:solidFill>
                <a:latin typeface="Segoe UI"/>
              </a:rPr>
              <a:t>Tempel screenshot di sini</a:t>
            </a:r>
          </a:p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586179"/>
                </a:solidFill>
                <a:latin typeface="Segoe UI"/>
              </a:rPr>
              <a:t>List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Cari  </a:t>
            </a:r>
            <a:r>
              <a:rPr sz="1500">
                <a:solidFill>
                  <a:srgbClr val="586179"/>
                </a:solidFill>
                <a:latin typeface="Segoe UI"/>
              </a:rPr>
              <a:t>nomor proposal, pemilik aset, nama klien.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Filter Lanjutan  </a:t>
            </a:r>
            <a:r>
              <a:rPr sz="1500">
                <a:solidFill>
                  <a:srgbClr val="586179"/>
                </a:solidFill>
                <a:latin typeface="Segoe UI"/>
              </a:rPr>
              <a:t>jenis, penilai, tanggal — tampil sebagai chip.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Urutkan  </a:t>
            </a:r>
            <a:r>
              <a:rPr sz="1500">
                <a:solidFill>
                  <a:srgbClr val="586179"/>
                </a:solidFill>
                <a:latin typeface="Segoe UI"/>
              </a:rPr>
              <a:t>klik judul kolom.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500">
                <a:solidFill>
                  <a:srgbClr val="B3262E"/>
                </a:solidFill>
                <a:latin typeface="Segoe UI"/>
              </a:rPr>
              <a:t>15 / 25 baris  </a:t>
            </a:r>
            <a:r>
              <a:rPr sz="1500">
                <a:solidFill>
                  <a:srgbClr val="151B2E"/>
                </a:solidFill>
                <a:latin typeface="Segoe UI"/>
              </a:rPr>
              <a:t>per halaman.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Tab Proyek Saya  </a:t>
            </a:r>
            <a:r>
              <a:rPr sz="1500">
                <a:solidFill>
                  <a:srgbClr val="586179"/>
                </a:solidFill>
                <a:latin typeface="Segoe UI"/>
              </a:rPr>
              <a:t>tugas pribadi, urut SLA.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ADMIN PRODUKSI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Membuat proposal baru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20440" cy="182880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20440" cy="50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E3A8A"/>
                </a:solidFill>
                <a:latin typeface="Segoe UI"/>
              </a:rPr>
              <a:t>LANGKAH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Identitas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30632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Nomor, tanggal, dasar permintaan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20440" cy="182880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520440" cy="50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5740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E3A8A"/>
                </a:solidFill>
                <a:latin typeface="Segoe UI"/>
              </a:rPr>
              <a:t>LANGKAH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7744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Pihak Terkait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30632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Pemberi Tugas, Nama Klien, Pengguna Laporan, Marketing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9" y="1828800"/>
            <a:ext cx="3520440" cy="182880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9" y="1828800"/>
            <a:ext cx="3520440" cy="50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205740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E3A8A"/>
                </a:solidFill>
                <a:latin typeface="Segoe UI"/>
              </a:rPr>
              <a:t>LANGKAH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37744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Lingkup &amp; SLA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834640"/>
            <a:ext cx="30632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Jenis proposal &amp; laporan, SLA hari kerja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840480"/>
            <a:ext cx="3520440" cy="182880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840480"/>
            <a:ext cx="3520440" cy="50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06908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E3A8A"/>
                </a:solidFill>
                <a:latin typeface="Segoe UI"/>
              </a:rPr>
              <a:t>LANGKAH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38912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Biaya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846320"/>
            <a:ext cx="30632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Fee (termasuk PPN), TA, skema DP / Bayar Nanti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0480"/>
            <a:ext cx="3520440" cy="182880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3840480"/>
            <a:ext cx="3520440" cy="50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06908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E3A8A"/>
                </a:solidFill>
                <a:latin typeface="Segoe UI"/>
              </a:rPr>
              <a:t>LANGKAH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38912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Objek Penilaian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846320"/>
            <a:ext cx="30632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Kategori, luas/unit, lokasi, hak, atas nama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9" y="3840480"/>
            <a:ext cx="3520440" cy="182880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19" y="3840480"/>
            <a:ext cx="3520440" cy="50800"/>
          </a:xfrm>
          <a:prstGeom prst="rect">
            <a:avLst/>
          </a:prstGeom>
          <a:solidFill>
            <a:srgbClr val="1C7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19" y="4069080"/>
            <a:ext cx="3520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7C54"/>
                </a:solidFill>
                <a:latin typeface="Segoe UI"/>
              </a:rPr>
              <a:t>LANGKAH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38912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Simpan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846320"/>
            <a:ext cx="30632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Tersimpan sebagai Draft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HALAMAN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Halaman detail proyek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949440" cy="44805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949440" cy="4480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586179"/>
                </a:solidFill>
                <a:latin typeface="Segoe UI"/>
              </a:rPr>
              <a:t>Tempel screenshot di sini</a:t>
            </a:r>
          </a:p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586179"/>
                </a:solidFill>
                <a:latin typeface="Segoe UI"/>
              </a:rPr>
              <a:t>Detail Proyek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Tab  </a:t>
            </a:r>
            <a:r>
              <a:rPr sz="1500">
                <a:solidFill>
                  <a:srgbClr val="586179"/>
                </a:solidFill>
                <a:latin typeface="Segoe UI"/>
              </a:rPr>
              <a:t>Info · Penilai · Surat Tugas · Tagihan · Faktur · Catatan.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Badge  </a:t>
            </a:r>
            <a:r>
              <a:rPr sz="1500">
                <a:solidFill>
                  <a:srgbClr val="586179"/>
                </a:solidFill>
                <a:latin typeface="Segoe UI"/>
              </a:rPr>
              <a:t>status &amp; sisa SLA di kanan atas.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Panel melayang  </a:t>
            </a:r>
            <a:r>
              <a:rPr sz="1500">
                <a:solidFill>
                  <a:srgbClr val="586179"/>
                </a:solidFill>
                <a:latin typeface="Segoe UI"/>
              </a:rPr>
              <a:t>Cetak PDF, Unduh Word, dan aksi utama.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Ponsel  </a:t>
            </a:r>
            <a:r>
              <a:rPr sz="1500">
                <a:solidFill>
                  <a:srgbClr val="586179"/>
                </a:solidFill>
                <a:latin typeface="Segoe UI"/>
              </a:rPr>
              <a:t>panel aksi pindah ke bawah layar.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GENERAL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Surat Tugas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700">
                <a:solidFill>
                  <a:srgbClr val="B3262E"/>
                </a:solidFill>
                <a:latin typeface="Segoe UI"/>
              </a:rPr>
              <a:t>1.  </a:t>
            </a:r>
            <a:r>
              <a:rPr sz="1700">
                <a:solidFill>
                  <a:srgbClr val="151B2E"/>
                </a:solidFill>
                <a:latin typeface="Segoe UI"/>
              </a:rPr>
              <a:t>Klik Edit pada kartu Surat Tugas (terkunci agar aman).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700">
                <a:solidFill>
                  <a:srgbClr val="B3262E"/>
                </a:solidFill>
                <a:latin typeface="Segoe UI"/>
              </a:rPr>
              <a:t>2.  </a:t>
            </a:r>
            <a:r>
              <a:rPr sz="1700">
                <a:solidFill>
                  <a:srgbClr val="151B2E"/>
                </a:solidFill>
                <a:latin typeface="Segoe UI"/>
              </a:rPr>
              <a:t>Isi nomor &amp; tanggal, pilih Kepada Yth dan atas nama.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700">
                <a:solidFill>
                  <a:srgbClr val="B3262E"/>
                </a:solidFill>
                <a:latin typeface="Segoe UI"/>
              </a:rPr>
              <a:t>3.  </a:t>
            </a:r>
            <a:r>
              <a:rPr sz="1700">
                <a:solidFill>
                  <a:srgbClr val="151B2E"/>
                </a:solidFill>
                <a:latin typeface="Segoe UI"/>
              </a:rPr>
              <a:t>Sesuaikan Dasar Permintaan Penilaian.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700">
                <a:solidFill>
                  <a:srgbClr val="B3262E"/>
                </a:solidFill>
                <a:latin typeface="Segoe UI"/>
              </a:rPr>
              <a:t>4.  </a:t>
            </a:r>
            <a:r>
              <a:rPr sz="1700">
                <a:solidFill>
                  <a:srgbClr val="151B2E"/>
                </a:solidFill>
                <a:latin typeface="Segoe UI"/>
              </a:rPr>
              <a:t>Unggah barcode PNG/JPG, maks 100 KB, 370×370 px.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700">
                <a:solidFill>
                  <a:srgbClr val="B3262E"/>
                </a:solidFill>
                <a:latin typeface="Segoe UI"/>
              </a:rPr>
              <a:t>5.  </a:t>
            </a:r>
            <a:r>
              <a:rPr sz="1700">
                <a:solidFill>
                  <a:srgbClr val="151B2E"/>
                </a:solidFill>
                <a:latin typeface="Segoe UI"/>
              </a:rPr>
              <a:t>Atur daftar petugas.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700">
                <a:solidFill>
                  <a:srgbClr val="B3262E"/>
                </a:solidFill>
                <a:latin typeface="Segoe UI"/>
              </a:rPr>
              <a:t>6.  </a:t>
            </a:r>
            <a:r>
              <a:rPr sz="1700">
                <a:solidFill>
                  <a:srgbClr val="151B2E"/>
                </a:solidFill>
                <a:latin typeface="Segoe UI"/>
              </a:rPr>
              <a:t>Cetak PDF atau Unduh Word.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828800"/>
            <a:ext cx="4754880" cy="411480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0" y="1828800"/>
            <a:ext cx="4754880" cy="508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057400"/>
            <a:ext cx="429768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Yang tercetak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514600"/>
            <a:ext cx="429768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Kepada Yth + alamat per baris
Penilaian Aset atas nama …
Rincian objek (tanpa luas tanah &amp; bangunan)
Tanggal pelaksanaan &amp; daftar petugas
Barcode tanda tangan Penanggung Jawab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GENERAL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Invoice &amp; kwitansi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20440" cy="420624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20440" cy="685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3108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Terbitkan invoice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sz="1500">
                <a:solidFill>
                  <a:srgbClr val="151B2E"/>
                </a:solidFill>
                <a:latin typeface="Segoe UI"/>
              </a:rPr>
              <a:t>Tagihan › + Buat Invoice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sz="1500">
                <a:solidFill>
                  <a:srgbClr val="151B2E"/>
                </a:solidFill>
                <a:latin typeface="Segoe UI"/>
              </a:rPr>
              <a:t>Pilih Telah diterima dari &amp; an.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sz="1500">
                <a:solidFill>
                  <a:srgbClr val="151B2E"/>
                </a:solidFill>
                <a:latin typeface="Segoe UI"/>
              </a:rPr>
              <a:t>Isi persentase atau nominal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sz="1500">
                <a:solidFill>
                  <a:srgbClr val="151B2E"/>
                </a:solidFill>
                <a:latin typeface="Segoe UI"/>
              </a:rPr>
              <a:t>Nomor dibuat otomatis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520440" cy="420624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20440" cy="685800"/>
          </a:xfrm>
          <a:prstGeom prst="rect">
            <a:avLst/>
          </a:prstGeom>
          <a:solidFill>
            <a:srgbClr val="1C7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108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Catat pembayaran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743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sz="1500">
                <a:solidFill>
                  <a:srgbClr val="151B2E"/>
                </a:solidFill>
                <a:latin typeface="Segoe UI"/>
              </a:rPr>
              <a:t>Tandai Dibayar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sz="1500">
                <a:solidFill>
                  <a:srgbClr val="151B2E"/>
                </a:solidFill>
                <a:latin typeface="Segoe UI"/>
              </a:rPr>
              <a:t>Isi tanggal diterima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sz="1500">
                <a:solidFill>
                  <a:srgbClr val="151B2E"/>
                </a:solidFill>
                <a:latin typeface="Segoe UI"/>
              </a:rPr>
              <a:t>Nomor kwitansi otomatis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sz="1500">
                <a:solidFill>
                  <a:srgbClr val="151B2E"/>
                </a:solidFill>
                <a:latin typeface="Segoe UI"/>
              </a:rPr>
              <a:t>Status proyek maju sendiri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828800"/>
            <a:ext cx="3520440" cy="420624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828800"/>
            <a:ext cx="3520440" cy="6858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828800"/>
            <a:ext cx="3108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Unduh dokumen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743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sz="1500">
                <a:solidFill>
                  <a:srgbClr val="151B2E"/>
                </a:solidFill>
                <a:latin typeface="Segoe UI"/>
              </a:rPr>
              <a:t>Unduh ▾ Invoice / Kwitansi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sz="1500">
                <a:solidFill>
                  <a:srgbClr val="151B2E"/>
                </a:solidFill>
                <a:latin typeface="Segoe UI"/>
              </a:rPr>
              <a:t>PDF atau Word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sz="1500">
                <a:solidFill>
                  <a:srgbClr val="151B2E"/>
                </a:solidFill>
                <a:latin typeface="Segoe UI"/>
              </a:rPr>
              <a:t>Kwitansi 2 rangkap 1 halaman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sz="1500">
                <a:solidFill>
                  <a:srgbClr val="151B2E"/>
                </a:solidFill>
                <a:latin typeface="Segoe UI"/>
              </a:rPr>
              <a:t>Bayar Nanti: kwitansi lebih dulu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HALAMAN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Dashboard Pembayaran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949440" cy="44805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949440" cy="4480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586179"/>
                </a:solidFill>
                <a:latin typeface="Segoe UI"/>
              </a:rPr>
              <a:t>Tempel screenshot di sini</a:t>
            </a:r>
          </a:p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586179"/>
                </a:solidFill>
                <a:latin typeface="Segoe UI"/>
              </a:rPr>
              <a:t>Dashboard Pembayaran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500">
                <a:solidFill>
                  <a:srgbClr val="B3262E"/>
                </a:solidFill>
                <a:latin typeface="Segoe UI"/>
              </a:rPr>
              <a:t>4 kartu  </a:t>
            </a:r>
            <a:r>
              <a:rPr sz="1500">
                <a:solidFill>
                  <a:srgbClr val="151B2E"/>
                </a:solidFill>
                <a:latin typeface="Segoe UI"/>
              </a:rPr>
              <a:t>Nilai Kontrak · Ditagih · Diterima · Belum Ditagih.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Filter periode  </a:t>
            </a:r>
            <a:r>
              <a:rPr sz="1500">
                <a:solidFill>
                  <a:srgbClr val="586179"/>
                </a:solidFill>
                <a:latin typeface="Segoe UI"/>
              </a:rPr>
              <a:t>berdasarkan tanggal terbit / bayar.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Tertunggak  </a:t>
            </a:r>
            <a:r>
              <a:rPr sz="1500">
                <a:solidFill>
                  <a:srgbClr val="586179"/>
                </a:solidFill>
                <a:latin typeface="Segoe UI"/>
              </a:rPr>
              <a:t>belum dibayar &gt; 14 hari.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Penomoran  </a:t>
            </a:r>
            <a:r>
              <a:rPr sz="1500">
                <a:solidFill>
                  <a:srgbClr val="586179"/>
                </a:solidFill>
                <a:latin typeface="Segoe UI"/>
              </a:rPr>
              <a:t>atur nomor terakhir invoice &amp; kwitansi.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HALAMAN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Timeline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949440" cy="448056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949440" cy="4480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586179"/>
                </a:solidFill>
                <a:latin typeface="Segoe UI"/>
              </a:rPr>
              <a:t>Tempel screenshot di sini</a:t>
            </a:r>
          </a:p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586179"/>
                </a:solidFill>
                <a:latin typeface="Segoe UI"/>
              </a:rPr>
              <a:t>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Batang  </a:t>
            </a:r>
            <a:r>
              <a:rPr sz="1500">
                <a:solidFill>
                  <a:srgbClr val="586179"/>
                </a:solidFill>
                <a:latin typeface="Segoe UI"/>
              </a:rPr>
              <a:t>rentang SLA draf: survei → target.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Label  </a:t>
            </a:r>
            <a:r>
              <a:rPr sz="1500">
                <a:solidFill>
                  <a:srgbClr val="586179"/>
                </a:solidFill>
                <a:latin typeface="Segoe UI"/>
              </a:rPr>
              <a:t>nomor proposal &amp; nama klien.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Garis biru  </a:t>
            </a:r>
            <a:r>
              <a:rPr sz="1500">
                <a:solidFill>
                  <a:srgbClr val="586179"/>
                </a:solidFill>
                <a:latin typeface="Segoe UI"/>
              </a:rPr>
              <a:t>hari ini; merah = terlambat.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7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500">
                <a:solidFill>
                  <a:srgbClr val="151B2E"/>
                </a:solidFill>
                <a:latin typeface="Segoe UI"/>
              </a:rPr>
              <a:t>Belum Terjadwal  </a:t>
            </a:r>
            <a:r>
              <a:rPr sz="1500">
                <a:solidFill>
                  <a:srgbClr val="586179"/>
                </a:solidFill>
                <a:latin typeface="Segoe UI"/>
              </a:rPr>
              <a:t>proyek tanpa tanggal survei.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BARU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Notifikasi WhatsApp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120640" cy="4206240"/>
          </a:xfrm>
          <a:prstGeom prst="rect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C7C54"/>
                </a:solidFill>
                <a:latin typeface="Segoe UI"/>
              </a:rPr>
              <a:t>CONTOH PESAN DI GRUP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457200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51B2E"/>
                </a:solidFill>
                <a:latin typeface="Segoe UI"/>
              </a:rPr>
              <a:t>📝 Pengajuan Review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51B2E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51B2E"/>
                </a:solidFill>
                <a:latin typeface="Segoe UI"/>
              </a:rPr>
              <a:t>Proyek 02106/…/VIII/2026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51B2E"/>
                </a:solidFill>
                <a:latin typeface="Segoe UI"/>
              </a:rPr>
              <a:t>Klien: NENG KARLINA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51B2E"/>
                </a:solidFill>
                <a:latin typeface="Segoe UI"/>
              </a:rPr>
              <a:t>Diajukan oleh: Ahmadsyam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51B2E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3A8A"/>
                </a:solidFill>
                <a:latin typeface="Segoe UI"/>
              </a:rPr>
              <a:t>@Reviewer</a:t>
            </a:r>
            <a:r>
              <a:rPr sz="1600" b="0">
                <a:solidFill>
                  <a:srgbClr val="151B2E"/>
                </a:solidFill>
                <a:latin typeface="Segoe UI"/>
              </a:rPr>
              <a:t> mohon direview 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9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700">
                <a:solidFill>
                  <a:srgbClr val="151B2E"/>
                </a:solidFill>
                <a:latin typeface="Segoe UI"/>
              </a:rPr>
              <a:t>Submit Review  </a:t>
            </a:r>
            <a:r>
              <a:rPr sz="1700">
                <a:solidFill>
                  <a:srgbClr val="586179"/>
                </a:solidFill>
                <a:latin typeface="Segoe UI"/>
              </a:rPr>
              <a:t>→ Reviewer di-mention.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9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700">
                <a:solidFill>
                  <a:srgbClr val="151B2E"/>
                </a:solidFill>
                <a:latin typeface="Segoe UI"/>
              </a:rPr>
              <a:t>Kembalikan ke Surveyor  </a:t>
            </a:r>
            <a:r>
              <a:rPr sz="1700">
                <a:solidFill>
                  <a:srgbClr val="586179"/>
                </a:solidFill>
                <a:latin typeface="Segoe UI"/>
              </a:rPr>
              <a:t>→ Surveyor di-mention beserta alasan.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9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700">
                <a:solidFill>
                  <a:srgbClr val="151B2E"/>
                </a:solidFill>
                <a:latin typeface="Segoe UI"/>
              </a:rPr>
              <a:t>Syarat  </a:t>
            </a:r>
            <a:r>
              <a:rPr sz="1700">
                <a:solidFill>
                  <a:srgbClr val="586179"/>
                </a:solidFill>
                <a:latin typeface="Segoe UI"/>
              </a:rPr>
              <a:t>isi Nomor WhatsApp di Profil Saya.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9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700">
                <a:solidFill>
                  <a:srgbClr val="151B2E"/>
                </a:solidFill>
                <a:latin typeface="Segoe UI"/>
              </a:rPr>
              <a:t>Aman  </a:t>
            </a:r>
            <a:r>
              <a:rPr sz="1700">
                <a:solidFill>
                  <a:srgbClr val="586179"/>
                </a:solidFill>
                <a:latin typeface="Segoe UI"/>
              </a:rPr>
              <a:t>bila bot mati, aplikasi tetap berjalan normal.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TAILSCALE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Akses dari luar kantor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2560320" cy="1463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C9D3F0"/>
                </a:solidFill>
                <a:latin typeface="Segoe UI"/>
              </a:rPr>
              <a:t>LANGKAH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22860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Pasang Tailscale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011680"/>
            <a:ext cx="2560320" cy="1463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05740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C9D3F0"/>
                </a:solidFill>
                <a:latin typeface="Segoe UI"/>
              </a:rPr>
              <a:t>LANGKAH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68880"/>
            <a:ext cx="22860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Login akun undangan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2560320" cy="1463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05740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C9D3F0"/>
                </a:solidFill>
                <a:latin typeface="Segoe UI"/>
              </a:rPr>
              <a:t>LANGKAH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68880"/>
            <a:ext cx="22860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Status Connected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39" y="2011680"/>
            <a:ext cx="2560320" cy="1463040"/>
          </a:xfrm>
          <a:prstGeom prst="rect">
            <a:avLst/>
          </a:prstGeom>
          <a:solidFill>
            <a:srgbClr val="1C7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39" y="205740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C9D3F0"/>
                </a:solidFill>
                <a:latin typeface="Segoe UI"/>
              </a:rPr>
              <a:t>LANGKAH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468880"/>
            <a:ext cx="22860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Buka http://100.…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9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700">
                <a:solidFill>
                  <a:srgbClr val="151B2E"/>
                </a:solidFill>
                <a:latin typeface="Segoe UI"/>
              </a:rPr>
              <a:t>Tanpa buka port router  </a:t>
            </a:r>
            <a:r>
              <a:rPr sz="1700">
                <a:solidFill>
                  <a:srgbClr val="586179"/>
                </a:solidFill>
                <a:latin typeface="Segoe UI"/>
              </a:rPr>
              <a:t>— hanya perangkat terdaftar yang bisa masuk.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9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700">
                <a:solidFill>
                  <a:srgbClr val="151B2E"/>
                </a:solidFill>
                <a:latin typeface="Segoe UI"/>
              </a:rPr>
              <a:t>Android  </a:t>
            </a:r>
            <a:r>
              <a:rPr sz="1700">
                <a:solidFill>
                  <a:srgbClr val="586179"/>
                </a:solidFill>
                <a:latin typeface="Segoe UI"/>
              </a:rPr>
              <a:t>— atur baterai Tailscale ke Tanpa batasan agar tidak terputus.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900">
                <a:solidFill>
                  <a:srgbClr val="B3262E"/>
                </a:solidFill>
                <a:latin typeface="Segoe UI"/>
              </a:rPr>
              <a:t>■  </a:t>
            </a:r>
            <a:r>
              <a:rPr b="1" sz="1700">
                <a:solidFill>
                  <a:srgbClr val="151B2E"/>
                </a:solidFill>
                <a:latin typeface="Segoe UI"/>
              </a:rPr>
              <a:t>Syarat  </a:t>
            </a:r>
            <a:r>
              <a:rPr sz="1700">
                <a:solidFill>
                  <a:srgbClr val="586179"/>
                </a:solidFill>
                <a:latin typeface="Segoe UI"/>
              </a:rPr>
              <a:t>— server aplikasi harus menyala dan terhubung internet.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3262E"/>
                </a:solidFill>
                <a:latin typeface="Segoe UI"/>
              </a:rPr>
              <a:t>SEBELUM MULAI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B2E"/>
                </a:solidFill>
                <a:latin typeface="Segoe UI"/>
              </a:rPr>
              <a:t>Tips &amp; masalah umum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381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Aplikasi Internal SPR · KJPP Sugianto Prasodjo &amp; Rekan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86179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20440" cy="192024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20440" cy="5080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Tombol tidak muncul?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30632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Role belum punya izin, atau status proyek belum sampai tahapnya.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520440" cy="192024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20440" cy="5080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419 Page Expired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0632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Sesi habis — muat ulang dan login lagi.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828800"/>
            <a:ext cx="3520440" cy="192024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828800"/>
            <a:ext cx="3520440" cy="5080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05740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Nominal invoice ditolak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514600"/>
            <a:ext cx="30632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Melebihi sisa tagihan proyek.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31920"/>
            <a:ext cx="3520440" cy="192024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3520440" cy="5080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16052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Barcode ditolak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17720"/>
            <a:ext cx="30632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Harus PNG/JPG, maks 100 KB, 370×370 px.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931920"/>
            <a:ext cx="3520440" cy="192024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931920"/>
            <a:ext cx="3520440" cy="5080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16052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Tidak dapat mention 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17720"/>
            <a:ext cx="30632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Nomor WhatsApp belum diisi di profil.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19" y="3931920"/>
            <a:ext cx="3520440" cy="1920240"/>
          </a:xfrm>
          <a:prstGeom prst="rect">
            <a:avLst/>
          </a:prstGeom>
          <a:solidFill>
            <a:srgbClr val="F5F6F9"/>
          </a:solidFill>
          <a:ln w="12700">
            <a:solidFill>
              <a:srgbClr val="DC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19" y="3931920"/>
            <a:ext cx="3520440" cy="5080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4160520"/>
            <a:ext cx="30632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1B2E"/>
                </a:solidFill>
                <a:latin typeface="Segoe UI"/>
              </a:rPr>
              <a:t>Tampilan berantakan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4617720"/>
            <a:ext cx="30632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79"/>
                </a:solidFill>
                <a:latin typeface="Segoe UI"/>
              </a:rPr>
              <a:t>Muat ulang halaman; bila berlanjut, hubungi Administrator.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Terima kasih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37560"/>
            <a:ext cx="914400" cy="508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C9D3F0"/>
                </a:solidFill>
                <a:latin typeface="Segoe UI"/>
              </a:rPr>
              <a:t>Sesi tanya jawab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C9D3F0"/>
                </a:solidFill>
                <a:latin typeface="Segoe UI"/>
              </a:rPr>
              <a:t>Buku Panduan lengkap: docs/Buku-Panduan-SPR.pdf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